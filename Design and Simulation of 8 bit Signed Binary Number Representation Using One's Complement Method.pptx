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81360" y="-594360"/>
            <a:ext cx="2011680" cy="2011680"/>
          </a:xfrm>
          <a:prstGeom prst="ellipse">
            <a:avLst/>
          </a:prstGeom>
          <a:solidFill>
            <a:srgbClr val="F5E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897880"/>
            <a:ext cx="1463040" cy="1463040"/>
          </a:xfrm>
          <a:prstGeom prst="ellipse">
            <a:avLst/>
          </a:prstGeom>
          <a:solidFill>
            <a:srgbClr val="E1D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952A0"/>
                </a:solidFill>
              </a:defRPr>
            </a:pPr>
            <a:r>
              <a:t>DIGITAL ELECTRONICS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7772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100" b="1">
                <a:solidFill>
                  <a:srgbClr val="263555"/>
                </a:solidFill>
              </a:defRPr>
            </a:pPr>
            <a:r>
              <a:t>Design &amp; Simulation of</a:t>
            </a:r>
            <a:br/>
            <a:r>
              <a:t>8-Bit Signed Binary Number Representation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718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F9D77"/>
                </a:solidFill>
              </a:defRPr>
            </a:pPr>
            <a:r>
              <a:t>Using One’s Complement 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703320"/>
            <a:ext cx="6583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737882"/>
                </a:solidFill>
              </a:defRPr>
            </a:pPr>
            <a:r>
              <a:t>A simple look at how computers represent positive and negative numbers.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234440"/>
            <a:ext cx="31089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4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16002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952A0"/>
                </a:solidFill>
              </a:defRPr>
            </a:pPr>
            <a:r>
              <a:t>8-BIT</a:t>
            </a:r>
          </a:p>
        </p:txBody>
      </p:sp>
      <p:sp>
        <p:nvSpPr>
          <p:cNvPr id="10" name="Oval 9"/>
          <p:cNvSpPr/>
          <p:nvPr/>
        </p:nvSpPr>
        <p:spPr>
          <a:xfrm>
            <a:off x="8549640" y="2423160"/>
            <a:ext cx="502920" cy="502920"/>
          </a:xfrm>
          <a:prstGeom prst="ellipse">
            <a:avLst/>
          </a:prstGeom>
          <a:solidFill>
            <a:srgbClr val="EF9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49640" y="251460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63555"/>
                </a:solidFill>
              </a:defRPr>
            </a:pPr>
            <a:r>
              <a:t>0</a:t>
            </a:r>
          </a:p>
        </p:txBody>
      </p:sp>
      <p:sp>
        <p:nvSpPr>
          <p:cNvPr id="12" name="Oval 11"/>
          <p:cNvSpPr/>
          <p:nvPr/>
        </p:nvSpPr>
        <p:spPr>
          <a:xfrm>
            <a:off x="9208008" y="2423160"/>
            <a:ext cx="502920" cy="502920"/>
          </a:xfrm>
          <a:prstGeom prst="ellipse">
            <a:avLst/>
          </a:prstGeom>
          <a:solidFill>
            <a:srgbClr val="EC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08008" y="251460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63555"/>
                </a:solidFill>
              </a:defRPr>
            </a:pPr>
            <a:r>
              <a:t>1</a:t>
            </a:r>
          </a:p>
        </p:txBody>
      </p:sp>
      <p:sp>
        <p:nvSpPr>
          <p:cNvPr id="14" name="Oval 13"/>
          <p:cNvSpPr/>
          <p:nvPr/>
        </p:nvSpPr>
        <p:spPr>
          <a:xfrm>
            <a:off x="9866376" y="2423160"/>
            <a:ext cx="502920" cy="502920"/>
          </a:xfrm>
          <a:prstGeom prst="ellipse">
            <a:avLst/>
          </a:prstGeom>
          <a:solidFill>
            <a:srgbClr val="EC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66376" y="251460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63555"/>
                </a:solidFill>
              </a:defRPr>
            </a:pPr>
            <a:r>
              <a:t>0</a:t>
            </a:r>
          </a:p>
        </p:txBody>
      </p:sp>
      <p:sp>
        <p:nvSpPr>
          <p:cNvPr id="16" name="Oval 15"/>
          <p:cNvSpPr/>
          <p:nvPr/>
        </p:nvSpPr>
        <p:spPr>
          <a:xfrm>
            <a:off x="10524744" y="2423160"/>
            <a:ext cx="502920" cy="502920"/>
          </a:xfrm>
          <a:prstGeom prst="ellipse">
            <a:avLst/>
          </a:prstGeom>
          <a:solidFill>
            <a:srgbClr val="EC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24744" y="251460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63555"/>
                </a:solidFill>
              </a:defRPr>
            </a:pPr>
            <a:r>
              <a:t>0</a:t>
            </a:r>
          </a:p>
        </p:txBody>
      </p:sp>
      <p:sp>
        <p:nvSpPr>
          <p:cNvPr id="18" name="Oval 17"/>
          <p:cNvSpPr/>
          <p:nvPr/>
        </p:nvSpPr>
        <p:spPr>
          <a:xfrm>
            <a:off x="8549640" y="3337560"/>
            <a:ext cx="502920" cy="502920"/>
          </a:xfrm>
          <a:prstGeom prst="ellipse">
            <a:avLst/>
          </a:prstGeom>
          <a:solidFill>
            <a:srgbClr val="EC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342900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63555"/>
                </a:solidFill>
              </a:defRPr>
            </a:pPr>
            <a:r>
              <a:t>1</a:t>
            </a:r>
          </a:p>
        </p:txBody>
      </p:sp>
      <p:sp>
        <p:nvSpPr>
          <p:cNvPr id="20" name="Oval 19"/>
          <p:cNvSpPr/>
          <p:nvPr/>
        </p:nvSpPr>
        <p:spPr>
          <a:xfrm>
            <a:off x="9208008" y="3337560"/>
            <a:ext cx="502920" cy="502920"/>
          </a:xfrm>
          <a:prstGeom prst="ellipse">
            <a:avLst/>
          </a:prstGeom>
          <a:solidFill>
            <a:srgbClr val="EC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08008" y="342900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63555"/>
                </a:solidFill>
              </a:defRPr>
            </a:pPr>
            <a:r>
              <a:t>1</a:t>
            </a:r>
          </a:p>
        </p:txBody>
      </p:sp>
      <p:sp>
        <p:nvSpPr>
          <p:cNvPr id="22" name="Oval 21"/>
          <p:cNvSpPr/>
          <p:nvPr/>
        </p:nvSpPr>
        <p:spPr>
          <a:xfrm>
            <a:off x="9866376" y="3337560"/>
            <a:ext cx="502920" cy="502920"/>
          </a:xfrm>
          <a:prstGeom prst="ellipse">
            <a:avLst/>
          </a:prstGeom>
          <a:solidFill>
            <a:srgbClr val="EC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66376" y="342900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63555"/>
                </a:solidFill>
              </a:defRPr>
            </a:pPr>
            <a:r>
              <a:t>0</a:t>
            </a:r>
          </a:p>
        </p:txBody>
      </p:sp>
      <p:sp>
        <p:nvSpPr>
          <p:cNvPr id="24" name="Oval 23"/>
          <p:cNvSpPr/>
          <p:nvPr/>
        </p:nvSpPr>
        <p:spPr>
          <a:xfrm>
            <a:off x="10524744" y="3337560"/>
            <a:ext cx="502920" cy="502920"/>
          </a:xfrm>
          <a:prstGeom prst="ellipse">
            <a:avLst/>
          </a:prstGeom>
          <a:solidFill>
            <a:srgbClr val="EC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24744" y="342900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63555"/>
                </a:solidFill>
              </a:defRPr>
            </a:pPr>
            <a: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3434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37882"/>
                </a:solidFill>
              </a:defRPr>
            </a:pPr>
            <a:r>
              <a:t>SIGN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709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99D84"/>
                </a:solidFill>
              </a:defRPr>
            </a:pPr>
            <a:r>
              <a:t>0 = +     1 = 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5257800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73D48"/>
                </a:solidFill>
              </a:defRPr>
            </a:pPr>
            <a:r>
              <a:t>Presented by: Anagha Nagaraj Kuruvinkopp</a:t>
            </a:r>
            <a:br/>
            <a:r>
              <a:t>CSE – 1st Year | KL University, Hyderabad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81360" y="-594360"/>
            <a:ext cx="2011680" cy="2011680"/>
          </a:xfrm>
          <a:prstGeom prst="ellipse">
            <a:avLst/>
          </a:prstGeom>
          <a:solidFill>
            <a:srgbClr val="F5E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897880"/>
            <a:ext cx="1463040" cy="1463040"/>
          </a:xfrm>
          <a:prstGeom prst="ellipse">
            <a:avLst/>
          </a:prstGeom>
          <a:solidFill>
            <a:srgbClr val="E1D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63555"/>
                </a:solidFill>
              </a:defRPr>
            </a:pPr>
            <a:r>
              <a:t>Why Do We Need Signed Numbers?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411480"/>
            <a:ext cx="640080" cy="384048"/>
          </a:xfrm>
          <a:prstGeom prst="roundRect">
            <a:avLst/>
          </a:prstGeom>
          <a:solidFill>
            <a:srgbClr val="69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52578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1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952A0"/>
                </a:solidFill>
              </a:defRPr>
            </a:pPr>
            <a:r>
              <a:t>WITHOUT A 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63555"/>
                </a:solidFill>
              </a:defRPr>
            </a:pPr>
            <a:r>
              <a:t>Unsigned Binary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88920"/>
            <a:ext cx="43891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73D48"/>
                </a:solidFill>
              </a:defRPr>
            </a:pPr>
            <a:r>
              <a:t>00000000  →  0</a:t>
            </a:r>
            <a:br/>
            <a:r>
              <a:t>00000001  →  1</a:t>
            </a:r>
            <a:br/>
            <a:r>
              <a:t>01111111  →  127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75488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37882"/>
                </a:solidFill>
              </a:defRPr>
            </a:pPr>
            <a:r>
              <a:t>Only non-negative values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25880"/>
            <a:ext cx="52578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1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6916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99D84"/>
                </a:solidFill>
              </a:defRPr>
            </a:pPr>
            <a:r>
              <a:t>WITH A 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14884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63555"/>
                </a:solidFill>
              </a:defRPr>
            </a:pPr>
            <a:r>
              <a:t>Signed Binary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8803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699D84"/>
                </a:solidFill>
              </a:defRPr>
            </a:pPr>
            <a:r>
              <a:t>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30358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73D48"/>
                </a:solidFill>
              </a:defRPr>
            </a:pPr>
            <a:r>
              <a:t>positive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3749039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EF9D77"/>
                </a:solidFill>
              </a:defRPr>
            </a:pPr>
            <a:r>
              <a:t>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3904487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73D48"/>
                </a:solidFill>
              </a:defRPr>
            </a:pPr>
            <a:r>
              <a:t>negative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800600"/>
            <a:ext cx="4343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37882"/>
                </a:solidFill>
              </a:defRPr>
            </a:pPr>
            <a:r>
              <a:t>One’s Complement is one method for representing both.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81360" y="-594360"/>
            <a:ext cx="2011680" cy="2011680"/>
          </a:xfrm>
          <a:prstGeom prst="ellipse">
            <a:avLst/>
          </a:prstGeom>
          <a:solidFill>
            <a:srgbClr val="F5E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897880"/>
            <a:ext cx="1463040" cy="1463040"/>
          </a:xfrm>
          <a:prstGeom prst="ellipse">
            <a:avLst/>
          </a:prstGeom>
          <a:solidFill>
            <a:srgbClr val="E1D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63555"/>
                </a:solidFill>
              </a:defRPr>
            </a:pPr>
            <a:r>
              <a:t>An 8-Bit Number Has 8 Positions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411480"/>
            <a:ext cx="640080" cy="384048"/>
          </a:xfrm>
          <a:prstGeom prst="roundRect">
            <a:avLst/>
          </a:prstGeom>
          <a:solidFill>
            <a:srgbClr val="69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9D77"/>
                </a:solidFill>
              </a:defRPr>
            </a:pPr>
            <a:r>
              <a:t>SIGN BIT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828800"/>
            <a:ext cx="960120" cy="868680"/>
          </a:xfrm>
          <a:prstGeom prst="roundRect">
            <a:avLst/>
          </a:prstGeom>
          <a:solidFill>
            <a:srgbClr val="FBEBE1"/>
          </a:solidFill>
          <a:ln>
            <a:solidFill>
              <a:srgbClr val="EF9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39112"/>
            <a:ext cx="960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263555"/>
                </a:solidFill>
              </a:defRPr>
            </a:pPr>
            <a: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52928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37882"/>
                </a:solidFill>
              </a:defRPr>
            </a:pPr>
            <a:r>
              <a:t>b7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94560" y="1828800"/>
            <a:ext cx="9601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7D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4560" y="2039112"/>
            <a:ext cx="960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263555"/>
                </a:solidFill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852928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37882"/>
                </a:solidFill>
              </a:defRPr>
            </a:pPr>
            <a:r>
              <a:t>b6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39" y="1828800"/>
            <a:ext cx="9601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7D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39" y="2039112"/>
            <a:ext cx="960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263555"/>
                </a:solidFill>
              </a:defRPr>
            </a:pPr>
            <a: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39" y="2852928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37882"/>
                </a:solidFill>
              </a:defRPr>
            </a:pPr>
            <a:r>
              <a:t>b5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6320" y="1828800"/>
            <a:ext cx="9601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7D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2039112"/>
            <a:ext cx="960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263555"/>
                </a:solidFill>
              </a:defRPr>
            </a:pPr>
            <a: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852928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37882"/>
                </a:solidFill>
              </a:defRPr>
            </a:pPr>
            <a:r>
              <a:t>b4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1828800"/>
            <a:ext cx="9601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7D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2039112"/>
            <a:ext cx="960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263555"/>
                </a:solidFill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2852928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37882"/>
                </a:solidFill>
              </a:defRPr>
            </a:pPr>
            <a:r>
              <a:t>b3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1828800"/>
            <a:ext cx="9601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7D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9" y="2039112"/>
            <a:ext cx="960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263555"/>
                </a:solidFill>
              </a:defRPr>
            </a:pPr>
            <a: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2852928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37882"/>
                </a:solidFill>
              </a:defRPr>
            </a:pPr>
            <a:r>
              <a:t>b2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23959" y="1828800"/>
            <a:ext cx="9601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7D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23959" y="2039112"/>
            <a:ext cx="960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263555"/>
                </a:solidFill>
              </a:defRPr>
            </a:pPr>
            <a: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3959" y="2852928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37882"/>
                </a:solidFill>
              </a:defRPr>
            </a:pPr>
            <a:r>
              <a:t>b1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49840" y="1828800"/>
            <a:ext cx="9601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7D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49840" y="2039112"/>
            <a:ext cx="960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263555"/>
                </a:solidFill>
              </a:defRPr>
            </a:pPr>
            <a: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40" y="2852928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37882"/>
                </a:solidFill>
              </a:defRPr>
            </a:pPr>
            <a:r>
              <a:t>b0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" y="3794760"/>
            <a:ext cx="28803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06908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99D84"/>
                </a:solidFill>
              </a:defRPr>
            </a:pPr>
            <a:r>
              <a:t>0 in MSB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446227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73D48"/>
                </a:solidFill>
              </a:defRPr>
            </a:pPr>
            <a:r>
              <a:t>Positive number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69080" y="3794760"/>
            <a:ext cx="28803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51960" y="406908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F9D77"/>
                </a:solidFill>
              </a:defRPr>
            </a:pPr>
            <a:r>
              <a:t>1 in MSB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51960" y="446227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73D48"/>
                </a:solidFill>
              </a:defRPr>
            </a:pPr>
            <a:r>
              <a:t>Negative number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69480" y="3794760"/>
            <a:ext cx="28803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52360" y="406908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952A0"/>
                </a:solidFill>
              </a:defRPr>
            </a:pPr>
            <a:r>
              <a:t>Remaining bits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52360" y="446227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73D48"/>
                </a:solidFill>
              </a:defRPr>
            </a:pPr>
            <a:r>
              <a:t>Store the magnitude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29000" y="56235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63555"/>
                </a:solidFill>
              </a:defRPr>
            </a:pPr>
            <a:r>
              <a:t>MSB = Most Significant Bit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81360" y="-594360"/>
            <a:ext cx="2011680" cy="2011680"/>
          </a:xfrm>
          <a:prstGeom prst="ellipse">
            <a:avLst/>
          </a:prstGeom>
          <a:solidFill>
            <a:srgbClr val="F5E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897880"/>
            <a:ext cx="1463040" cy="1463040"/>
          </a:xfrm>
          <a:prstGeom prst="ellipse">
            <a:avLst/>
          </a:prstGeom>
          <a:solidFill>
            <a:srgbClr val="E1D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63555"/>
                </a:solidFill>
              </a:defRPr>
            </a:pPr>
            <a:r>
              <a:t>One’s Complement: Flip Every Bit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411480"/>
            <a:ext cx="640080" cy="384048"/>
          </a:xfrm>
          <a:prstGeom prst="roundRect">
            <a:avLst/>
          </a:prstGeom>
          <a:solidFill>
            <a:srgbClr val="69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73D48"/>
                </a:solidFill>
              </a:defRPr>
            </a:pPr>
            <a:r>
              <a:t>To represent a negative number, complement each bit of its positive binary form.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99D84"/>
                </a:solidFill>
              </a:defRPr>
            </a:pPr>
            <a:r>
              <a:t>+13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2011680"/>
            <a:ext cx="4572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D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21671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63555"/>
                </a:solidFill>
              </a:defRPr>
            </a:pPr>
            <a:r>
              <a:t>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87168" y="2011680"/>
            <a:ext cx="4572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D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21671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63555"/>
                </a:solidFill>
              </a:defRPr>
            </a:pPr>
            <a:r>
              <a:t>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54096" y="2011680"/>
            <a:ext cx="4572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D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54096" y="21671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63555"/>
                </a:solidFill>
              </a:defRPr>
            </a:pPr>
            <a:r>
              <a:t>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21024" y="2011680"/>
            <a:ext cx="4572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D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024" y="21671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63555"/>
                </a:solidFill>
              </a:defRPr>
            </a:pPr>
            <a:r>
              <a:t>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87952" y="2011680"/>
            <a:ext cx="4572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D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87952" y="21671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63555"/>
                </a:solidFill>
              </a:defRPr>
            </a:pPr>
            <a: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2011680"/>
            <a:ext cx="4572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D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21671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63555"/>
                </a:solidFill>
              </a:defRPr>
            </a:pPr>
            <a:r>
              <a:t>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21808" y="2011680"/>
            <a:ext cx="4572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D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21808" y="21671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63555"/>
                </a:solidFill>
              </a:defRPr>
            </a:pPr>
            <a:r>
              <a:t>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88736" y="2011680"/>
            <a:ext cx="4572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D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88736" y="21671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63555"/>
                </a:solidFill>
              </a:defRPr>
            </a:pPr>
            <a: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2788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EF9D77"/>
                </a:solidFill>
              </a:defRPr>
            </a:pPr>
            <a:r>
              <a:t>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28163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952A0"/>
                </a:solidFill>
              </a:defRPr>
            </a:pPr>
            <a:r>
              <a:t>0 ↔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388620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F9D77"/>
                </a:solidFill>
              </a:defRPr>
            </a:pPr>
            <a:r>
              <a:t>−13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920240" y="3749039"/>
            <a:ext cx="457200" cy="640080"/>
          </a:xfrm>
          <a:prstGeom prst="roundRect">
            <a:avLst/>
          </a:prstGeom>
          <a:solidFill>
            <a:srgbClr val="FAEFE7"/>
          </a:solidFill>
          <a:ln>
            <a:solidFill>
              <a:srgbClr val="EF9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20240" y="3904487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63555"/>
                </a:solidFill>
              </a:defRPr>
            </a:pPr>
            <a:r>
              <a:t>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487168" y="3749039"/>
            <a:ext cx="457200" cy="640080"/>
          </a:xfrm>
          <a:prstGeom prst="roundRect">
            <a:avLst/>
          </a:prstGeom>
          <a:solidFill>
            <a:srgbClr val="FAEFE7"/>
          </a:solidFill>
          <a:ln>
            <a:solidFill>
              <a:srgbClr val="EF9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87168" y="3904487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63555"/>
                </a:solidFill>
              </a:defRPr>
            </a:pPr>
            <a:r>
              <a:t>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54096" y="3749039"/>
            <a:ext cx="457200" cy="640080"/>
          </a:xfrm>
          <a:prstGeom prst="roundRect">
            <a:avLst/>
          </a:prstGeom>
          <a:solidFill>
            <a:srgbClr val="FAEFE7"/>
          </a:solidFill>
          <a:ln>
            <a:solidFill>
              <a:srgbClr val="EF9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54096" y="3904487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63555"/>
                </a:solidFill>
              </a:defRPr>
            </a:pPr>
            <a:r>
              <a:t>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21024" y="3749039"/>
            <a:ext cx="457200" cy="640080"/>
          </a:xfrm>
          <a:prstGeom prst="roundRect">
            <a:avLst/>
          </a:prstGeom>
          <a:solidFill>
            <a:srgbClr val="FAEFE7"/>
          </a:solidFill>
          <a:ln>
            <a:solidFill>
              <a:srgbClr val="EF9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21024" y="3904487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63555"/>
                </a:solidFill>
              </a:defRPr>
            </a:pPr>
            <a:r>
              <a:t>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87952" y="3749039"/>
            <a:ext cx="457200" cy="640080"/>
          </a:xfrm>
          <a:prstGeom prst="roundRect">
            <a:avLst/>
          </a:prstGeom>
          <a:solidFill>
            <a:srgbClr val="FAEFE7"/>
          </a:solidFill>
          <a:ln>
            <a:solidFill>
              <a:srgbClr val="EF9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87952" y="3904487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63555"/>
                </a:solidFill>
              </a:defRPr>
            </a:pPr>
            <a:r>
              <a:t>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54880" y="3749039"/>
            <a:ext cx="457200" cy="640080"/>
          </a:xfrm>
          <a:prstGeom prst="roundRect">
            <a:avLst/>
          </a:prstGeom>
          <a:solidFill>
            <a:srgbClr val="FAEFE7"/>
          </a:solidFill>
          <a:ln>
            <a:solidFill>
              <a:srgbClr val="EF9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0" y="3904487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63555"/>
                </a:solidFill>
              </a:defRPr>
            </a:pPr>
            <a:r>
              <a:t>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321808" y="3749039"/>
            <a:ext cx="457200" cy="640080"/>
          </a:xfrm>
          <a:prstGeom prst="roundRect">
            <a:avLst/>
          </a:prstGeom>
          <a:solidFill>
            <a:srgbClr val="FAEFE7"/>
          </a:solidFill>
          <a:ln>
            <a:solidFill>
              <a:srgbClr val="EF9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21808" y="3904487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63555"/>
                </a:solidFill>
              </a:defRPr>
            </a:pPr>
            <a:r>
              <a:t>1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888736" y="3749039"/>
            <a:ext cx="457200" cy="640080"/>
          </a:xfrm>
          <a:prstGeom prst="roundRect">
            <a:avLst/>
          </a:prstGeom>
          <a:solidFill>
            <a:srgbClr val="FAEFE7"/>
          </a:solidFill>
          <a:ln>
            <a:solidFill>
              <a:srgbClr val="EF9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88736" y="3904487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63555"/>
                </a:solidFill>
              </a:defRPr>
            </a:pPr>
            <a:r>
              <a:t>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406640" y="2011680"/>
            <a:ext cx="347472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1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26679" y="23317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952A0"/>
                </a:solidFill>
              </a:defRPr>
            </a:pPr>
            <a:r>
              <a:t>3 EASY STEPS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26679" y="2880360"/>
            <a:ext cx="2743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373D48"/>
                </a:solidFill>
              </a:defRPr>
            </a:pPr>
            <a:r>
              <a:t>• Write the 8-bit positive value</a:t>
            </a:r>
          </a:p>
          <a:p>
            <a:pPr>
              <a:spcAft>
                <a:spcPts val="1100"/>
              </a:spcAft>
              <a:defRPr sz="1500">
                <a:solidFill>
                  <a:srgbClr val="373D48"/>
                </a:solidFill>
              </a:defRPr>
            </a:pPr>
            <a:r>
              <a:t>• Invert every bit</a:t>
            </a:r>
          </a:p>
          <a:p>
            <a:pPr>
              <a:spcAft>
                <a:spcPts val="1100"/>
              </a:spcAft>
              <a:defRPr sz="1500">
                <a:solidFill>
                  <a:srgbClr val="373D48"/>
                </a:solidFill>
              </a:defRPr>
            </a:pPr>
            <a:r>
              <a:t>• The result is the negative value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81360" y="-594360"/>
            <a:ext cx="2011680" cy="2011680"/>
          </a:xfrm>
          <a:prstGeom prst="ellipse">
            <a:avLst/>
          </a:prstGeom>
          <a:solidFill>
            <a:srgbClr val="F5E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897880"/>
            <a:ext cx="1463040" cy="1463040"/>
          </a:xfrm>
          <a:prstGeom prst="ellipse">
            <a:avLst/>
          </a:prstGeom>
          <a:solidFill>
            <a:srgbClr val="E1D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63555"/>
                </a:solidFill>
              </a:defRPr>
            </a:pPr>
            <a:r>
              <a:t>8-Bit One’s Complement Range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411480"/>
            <a:ext cx="640080" cy="384048"/>
          </a:xfrm>
          <a:prstGeom prst="roundRect">
            <a:avLst/>
          </a:prstGeom>
          <a:solidFill>
            <a:srgbClr val="69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325880"/>
            <a:ext cx="103327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1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175564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F9D77"/>
                </a:solidFill>
              </a:defRPr>
            </a:pPr>
            <a:r>
              <a:t>−127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175564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F9D77"/>
                </a:solidFill>
              </a:defRPr>
            </a:pPr>
            <a:r>
              <a:t>−1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7556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952A0"/>
                </a:solidFill>
              </a:defRPr>
            </a:pPr>
            <a:r>
              <a:t>−0 / +0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175564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99D84"/>
                </a:solidFill>
              </a:defRPr>
            </a:pPr>
            <a:r>
              <a:t>+1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175564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99D84"/>
                </a:solidFill>
              </a:defRPr>
            </a:pPr>
            <a:r>
              <a:t>+127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737360" y="2514600"/>
            <a:ext cx="8732520" cy="0"/>
          </a:xfrm>
          <a:prstGeom prst="line">
            <a:avLst/>
          </a:prstGeom>
          <a:ln w="31750">
            <a:solidFill>
              <a:srgbClr val="737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737360" y="2313432"/>
            <a:ext cx="384048" cy="384048"/>
          </a:xfrm>
          <a:prstGeom prst="ellipse">
            <a:avLst/>
          </a:prstGeom>
          <a:solidFill>
            <a:srgbClr val="EF9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77639" y="2313432"/>
            <a:ext cx="384048" cy="384048"/>
          </a:xfrm>
          <a:prstGeom prst="ellipse">
            <a:avLst/>
          </a:prstGeom>
          <a:solidFill>
            <a:srgbClr val="EF9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26480" y="2313432"/>
            <a:ext cx="384048" cy="384048"/>
          </a:xfrm>
          <a:prstGeom prst="ellipse">
            <a:avLst/>
          </a:prstGeom>
          <a:solidFill>
            <a:srgbClr val="69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01000" y="2313432"/>
            <a:ext cx="384048" cy="384048"/>
          </a:xfrm>
          <a:prstGeom prst="ellipse">
            <a:avLst/>
          </a:prstGeom>
          <a:solidFill>
            <a:srgbClr val="699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0" y="2313432"/>
            <a:ext cx="384048" cy="384048"/>
          </a:xfrm>
          <a:prstGeom prst="ellipse">
            <a:avLst/>
          </a:prstGeom>
          <a:solidFill>
            <a:srgbClr val="699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3337560"/>
            <a:ext cx="32918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1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63931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99D84"/>
                </a:solidFill>
              </a:defRPr>
            </a:pPr>
            <a:r>
              <a:t>Positive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09651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263555"/>
                </a:solidFill>
              </a:defRPr>
            </a:pPr>
            <a:r>
              <a:t>0 to +127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3337560"/>
            <a:ext cx="32918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1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0" y="363931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F9D77"/>
                </a:solidFill>
              </a:defRPr>
            </a:pPr>
            <a:r>
              <a:t>Negative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409651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263555"/>
                </a:solidFill>
              </a:defRPr>
            </a:pPr>
            <a:r>
              <a:t>−127 to −0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21040" y="3337560"/>
            <a:ext cx="32918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1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19" y="363931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952A0"/>
                </a:solidFill>
              </a:defRPr>
            </a:pPr>
            <a:r>
              <a:t>Important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409651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263555"/>
                </a:solidFill>
              </a:defRPr>
            </a:pPr>
            <a:r>
              <a:t>Two zeros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5532120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263555"/>
                </a:solidFill>
              </a:defRPr>
            </a:pPr>
            <a:r>
              <a:t>Overall range:  −127  to  +127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81360" y="-594360"/>
            <a:ext cx="2011680" cy="2011680"/>
          </a:xfrm>
          <a:prstGeom prst="ellipse">
            <a:avLst/>
          </a:prstGeom>
          <a:solidFill>
            <a:srgbClr val="F5E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897880"/>
            <a:ext cx="1463040" cy="1463040"/>
          </a:xfrm>
          <a:prstGeom prst="ellipse">
            <a:avLst/>
          </a:prstGeom>
          <a:solidFill>
            <a:srgbClr val="E1D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63555"/>
                </a:solidFill>
              </a:defRPr>
            </a:pPr>
            <a:r>
              <a:t>Design &amp; Simulation in Logisim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411480"/>
            <a:ext cx="640080" cy="384048"/>
          </a:xfrm>
          <a:prstGeom prst="roundRect">
            <a:avLst/>
          </a:prstGeom>
          <a:solidFill>
            <a:srgbClr val="69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1920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1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1288" y="1645920"/>
            <a:ext cx="594360" cy="594360"/>
          </a:xfrm>
          <a:prstGeom prst="ellipse">
            <a:avLst/>
          </a:prstGeom>
          <a:solidFill>
            <a:srgbClr val="69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1773936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63555"/>
                </a:solidFill>
              </a:defRPr>
            </a:pPr>
            <a: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37882"/>
                </a:solidFill>
              </a:defRPr>
            </a:pPr>
            <a:r>
              <a:t>Decimal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103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952A0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39" y="1417320"/>
            <a:ext cx="1920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1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93007" y="1645920"/>
            <a:ext cx="594360" cy="594360"/>
          </a:xfrm>
          <a:prstGeom prst="ellipse">
            <a:avLst/>
          </a:prstGeom>
          <a:solidFill>
            <a:srgbClr val="EF9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93007" y="1773936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799" y="2468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63555"/>
                </a:solidFill>
              </a:defRPr>
            </a:pPr>
            <a:r>
              <a:t>CONVERT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799" y="2834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37882"/>
                </a:solidFill>
              </a:defRPr>
            </a:pPr>
            <a:r>
              <a:t>8-bit binary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2103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952A0"/>
                </a:solidFill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66359" y="1417320"/>
            <a:ext cx="1920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1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824727" y="1645920"/>
            <a:ext cx="594360" cy="594360"/>
          </a:xfrm>
          <a:prstGeom prst="ellipse">
            <a:avLst/>
          </a:prstGeom>
          <a:solidFill>
            <a:srgbClr val="699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24727" y="1773936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2468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63555"/>
                </a:solidFill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2834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37882"/>
                </a:solidFill>
              </a:defRPr>
            </a:pPr>
            <a:r>
              <a:t>Sign bit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2103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952A0"/>
                </a:solidFill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79" y="1417320"/>
            <a:ext cx="1920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1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156448" y="1645920"/>
            <a:ext cx="594360" cy="594360"/>
          </a:xfrm>
          <a:prstGeom prst="ellipse">
            <a:avLst/>
          </a:prstGeom>
          <a:solidFill>
            <a:srgbClr val="69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56448" y="1773936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2468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63555"/>
                </a:solidFill>
              </a:defRPr>
            </a:pPr>
            <a:r>
              <a:t>INVERT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2834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37882"/>
                </a:solidFill>
              </a:defRPr>
            </a:pPr>
            <a:r>
              <a:t>NOT gates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19" y="2103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952A0"/>
                </a:solidFill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29800" y="1417320"/>
            <a:ext cx="1920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1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488168" y="1645920"/>
            <a:ext cx="594360" cy="594360"/>
          </a:xfrm>
          <a:prstGeom prst="ellipse">
            <a:avLst/>
          </a:prstGeom>
          <a:solidFill>
            <a:srgbClr val="EF9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88168" y="1773936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2468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63555"/>
                </a:solidFill>
              </a:defRPr>
            </a:pPr>
            <a:r>
              <a:t>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6960" y="2834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37882"/>
                </a:solidFill>
              </a:defRPr>
            </a:pPr>
            <a:r>
              <a:t>8-bit result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3886200"/>
            <a:ext cx="10332720" cy="1508760"/>
          </a:xfrm>
          <a:prstGeom prst="roundRect">
            <a:avLst/>
          </a:prstGeom>
          <a:solidFill>
            <a:srgbClr val="F6F2FA"/>
          </a:solidFill>
          <a:ln>
            <a:solidFill>
              <a:srgbClr val="D6C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34440" y="418795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952A0"/>
                </a:solidFill>
              </a:defRPr>
            </a:pPr>
            <a:r>
              <a:t>SIMULATION IDEA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34440" y="461772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63555"/>
                </a:solidFill>
              </a:defRPr>
            </a:pPr>
            <a:r>
              <a:t>For each bit, a NOT gate flips 0 → 1 and 1 → 0.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4440" y="504748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37882"/>
                </a:solidFill>
              </a:defRPr>
            </a:pPr>
            <a:r>
              <a:t>Example:  00001101   →   NOT gates   →   11110010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81360" y="-594360"/>
            <a:ext cx="2011680" cy="2011680"/>
          </a:xfrm>
          <a:prstGeom prst="ellipse">
            <a:avLst/>
          </a:prstGeom>
          <a:solidFill>
            <a:srgbClr val="F5E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897880"/>
            <a:ext cx="1463040" cy="1463040"/>
          </a:xfrm>
          <a:prstGeom prst="ellipse">
            <a:avLst/>
          </a:prstGeom>
          <a:solidFill>
            <a:srgbClr val="E1D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63555"/>
                </a:solidFill>
              </a:defRPr>
            </a:pPr>
            <a:r>
              <a:t>Examples &amp; Final Takeaway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411480"/>
            <a:ext cx="640080" cy="384048"/>
          </a:xfrm>
          <a:prstGeom prst="roundRect">
            <a:avLst/>
          </a:prstGeom>
          <a:solidFill>
            <a:srgbClr val="69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47548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1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39903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99D84"/>
                </a:solidFill>
              </a:defRPr>
            </a:pPr>
            <a:r>
              <a:t>+5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1399032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63555"/>
                </a:solidFill>
              </a:defRPr>
            </a:pPr>
            <a:r>
              <a:t>00000101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234440"/>
            <a:ext cx="47548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1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39903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9D77"/>
                </a:solidFill>
              </a:defRPr>
            </a:pPr>
            <a:r>
              <a:t>−5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79" y="1399032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63555"/>
                </a:solidFill>
              </a:defRPr>
            </a:pPr>
            <a:r>
              <a:t>11111010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194560"/>
            <a:ext cx="47548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1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3591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99D84"/>
                </a:solidFill>
              </a:defRPr>
            </a:pPr>
            <a:r>
              <a:t>+13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2359152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63555"/>
                </a:solidFill>
              </a:defRPr>
            </a:pPr>
            <a:r>
              <a:t>00001101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2194560"/>
            <a:ext cx="47548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1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23591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9D77"/>
                </a:solidFill>
              </a:defRPr>
            </a:pPr>
            <a:r>
              <a:t>−13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79" y="2359152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63555"/>
                </a:solidFill>
              </a:defRPr>
            </a:pPr>
            <a:r>
              <a:t>11110010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154680"/>
            <a:ext cx="47548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1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31927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99D84"/>
                </a:solidFill>
              </a:defRPr>
            </a:pPr>
            <a:r>
              <a:t>+25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3319272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63555"/>
                </a:solidFill>
              </a:defRPr>
            </a:pPr>
            <a:r>
              <a:t>00011001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3154680"/>
            <a:ext cx="47548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1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331927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9D77"/>
                </a:solidFill>
              </a:defRPr>
            </a:pPr>
            <a:r>
              <a:t>−25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79" y="3319272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63555"/>
                </a:solidFill>
              </a:defRPr>
            </a:pPr>
            <a:r>
              <a:t>11100110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4572000"/>
            <a:ext cx="4800600" cy="1143000"/>
          </a:xfrm>
          <a:prstGeom prst="roundRect">
            <a:avLst/>
          </a:prstGeom>
          <a:solidFill>
            <a:srgbClr val="F2F8F4"/>
          </a:solidFill>
          <a:ln>
            <a:solidFill>
              <a:srgbClr val="CB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0" y="4800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99D84"/>
                </a:solidFill>
              </a:defRPr>
            </a:pPr>
            <a:r>
              <a:t>REMEMBER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477316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63555"/>
                </a:solidFill>
              </a:defRPr>
            </a:pPr>
            <a:r>
              <a:t>Negative = invert every bit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892040"/>
            <a:ext cx="5166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63555"/>
                </a:solidFill>
              </a:defRPr>
            </a:pPr>
            <a:r>
              <a:t>One’s Complement is simple, visual, and easy to simulate.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7150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6952A0"/>
                </a:solidFill>
              </a:defRPr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