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8FC"/>
                </a:solidFill>
              </a:defRPr>
            </a:pPr>
            <a:r>
              <a:t>RISC-V Custom Instruction</a:t>
            </a:r>
            <a:br/>
            <a:r>
              <a:t>Candidate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4D2DC"/>
                </a:solidFill>
              </a:defRPr>
            </a:pPr>
            <a:r>
              <a:t>A systematic method for turning workload bottlenecks into efficient ISA extensions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49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Computer Architecture • ISA Design • Hardware/Software Co-Design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3657600"/>
            <a:ext cx="274320" cy="274320"/>
          </a:xfrm>
          <a:prstGeom prst="roundRect">
            <a:avLst/>
          </a:prstGeom>
          <a:solidFill>
            <a:srgbClr val="2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70848" y="3547872"/>
            <a:ext cx="274320" cy="274320"/>
          </a:xfrm>
          <a:prstGeom prst="roundRect">
            <a:avLst/>
          </a:prstGeom>
          <a:solidFill>
            <a:srgbClr val="2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54896" y="3438144"/>
            <a:ext cx="274320" cy="274320"/>
          </a:xfrm>
          <a:prstGeom prst="roundRect">
            <a:avLst/>
          </a:prstGeom>
          <a:solidFill>
            <a:srgbClr val="2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38944" y="3328416"/>
            <a:ext cx="274320" cy="274320"/>
          </a:xfrm>
          <a:prstGeom prst="roundRect">
            <a:avLst/>
          </a:prstGeom>
          <a:solidFill>
            <a:srgbClr val="2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22992" y="3218688"/>
            <a:ext cx="274320" cy="274320"/>
          </a:xfrm>
          <a:prstGeom prst="roundRect">
            <a:avLst/>
          </a:prstGeom>
          <a:solidFill>
            <a:srgbClr val="2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Why Custom Instructions?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429000" cy="1874519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9903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01368"/>
            <a:ext cx="30266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Collapse frequent multi-instruction sequences into one operation, reducing instruction fetch, decode, and execute overhead.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29000" cy="1874519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39903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01368"/>
            <a:ext cx="30266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Fewer instructions and shorter execution time can reduce dynamic activity and memory traffic.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429000" cy="1874519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39903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Specialization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01368"/>
            <a:ext cx="30266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Add only the operation the workload needs instead of redesigning the entire processor.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0332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4D2DC"/>
                </a:solidFill>
              </a:defRPr>
            </a:pPr>
            <a:r>
              <a:t>Core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5F8FC"/>
                </a:solidFill>
              </a:defRPr>
            </a:pPr>
            <a:r>
              <a:t>Custom ISA design is not about inventing instructions at random. The goal is to identify a workload pattern where the expected system-level benefit clearly outweighs implementation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Where Do Candidate Instructions Come From?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212080" cy="182880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0759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Hot Loops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09928"/>
            <a:ext cx="48097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Use profiling to find loops responsible for a large share of total execution time. Candidates inside these loops have the highest leverage.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212080" cy="182880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30759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Repeated Sequences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709928"/>
            <a:ext cx="48097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Search for instruction patterns that occur repeatedly and can be fused into one semantic operation.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37560"/>
            <a:ext cx="5212080" cy="182880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50215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Domain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04487"/>
            <a:ext cx="48097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Cryptography, DSP, image processing, compression, ML kernels, and signal processing often expose strong custom-instruction opportunities.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37560"/>
            <a:ext cx="5212080" cy="182880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50215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Compiler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904487"/>
            <a:ext cx="48097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Look for idioms that compilers already recognize, or operations that require awkward instruction sequences on the base ISA.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Candidate Selection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337560" cy="178308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9903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01 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01368"/>
            <a:ext cx="29352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Measure workload hotspots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337560" cy="178308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39903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02  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01368"/>
            <a:ext cx="29352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Find repeated computation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337560" cy="178308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39903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03 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01368"/>
            <a:ext cx="29352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Estimate instruction/cycle savings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20440"/>
            <a:ext cx="3337560" cy="178308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68503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04 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087368"/>
            <a:ext cx="29352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Map operation to datapath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520440"/>
            <a:ext cx="3337560" cy="178308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368503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05  Evaluate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4087368"/>
            <a:ext cx="29352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Area • power • timing • speedup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520440"/>
            <a:ext cx="3337560" cy="178308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368503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06  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4087368"/>
            <a:ext cx="29352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Benchmark software + RTL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Key Metrics for Ranking Candidates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3474720" cy="192024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26187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Frequency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64207"/>
            <a:ext cx="3072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How often does the pattern execute? High frequency increases total benefit.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097280"/>
            <a:ext cx="3474720" cy="192024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26187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Instruction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64207"/>
            <a:ext cx="3072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How many base instructions can one custom instruction replace? Larger reduction generally means more opportunity.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097280"/>
            <a:ext cx="3474720" cy="192024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26187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664207"/>
            <a:ext cx="3072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Can the custom operation finish within the target cycle time, or does it create a multi-cycle/critical-path problem?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29000"/>
            <a:ext cx="3474720" cy="192024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59359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Area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995928"/>
            <a:ext cx="3072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Estimate added logic, routing, register-file pressure, and control complexity.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429000"/>
            <a:ext cx="3474720" cy="192024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59359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Energy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95928"/>
            <a:ext cx="3072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Consider switching activity, memory traffic, and execution-time reduction.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429000"/>
            <a:ext cx="3474720" cy="192024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59359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Software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95928"/>
            <a:ext cx="3072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Compiler support, intrinsic APIs, code generation, ABI impact, and portability matter.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A Simple Quantitative Ranking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CCDE"/>
                </a:solidFill>
              </a:defRPr>
            </a:pPr>
            <a:r>
              <a:t>A practical scoring function can combine benefit and implementation cost: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4D2DC"/>
                </a:solidFill>
              </a:defRPr>
            </a:pPr>
            <a:r>
              <a:t>Score = w₁·F + w₂·R + w₃·S − w₄·A − w₅·P − w₆·C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34640"/>
            <a:ext cx="3246120" cy="205740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99923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F — 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401568"/>
            <a:ext cx="28437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Normalized execution frequency of the candidate pattern.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834640"/>
            <a:ext cx="3246120" cy="205740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299923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R —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401568"/>
            <a:ext cx="28437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Estimated instructions or cycles eliminated.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834640"/>
            <a:ext cx="3246120" cy="205740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299923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S — Speedup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3401568"/>
            <a:ext cx="28437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Expected workload-level performance improvement.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ECCDE"/>
                </a:solidFill>
              </a:defRPr>
            </a:pPr>
            <a:r>
              <a:t>A = area • P = power/energy • C = software + verification complexity • wᵢ = project-specific weights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Worked Example: Fused Multiply-Accumulate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4D2DC"/>
                </a:solidFill>
              </a:defRPr>
            </a:pPr>
            <a:r>
              <a:t>Baseline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8FC"/>
                </a:solidFill>
              </a:defRPr>
            </a:pPr>
            <a:r>
              <a:t>load → multiply → add → store</a:t>
            </a:r>
            <a:br/>
            <a:r>
              <a:t>(repeated inside a hot loop)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4D2DC"/>
                </a:solidFill>
              </a:defRPr>
            </a:pPr>
            <a:r>
              <a:t>Candidate custom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8FC"/>
                </a:solidFill>
              </a:defRPr>
            </a:pPr>
            <a:r>
              <a:t>MAC rd, rs1, rs2</a:t>
            </a:r>
            <a:br/>
            <a:br/>
            <a:r>
              <a:t>One semantic operation replaces a repeated sequence.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57600"/>
            <a:ext cx="3291840" cy="164592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3822191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Potential Benefit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224528"/>
            <a:ext cx="28895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Lower instruction count and potentially fewer pipeline stages for the operation.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657600"/>
            <a:ext cx="3291840" cy="164592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3822191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Hardware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4224528"/>
            <a:ext cx="28895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Can the multiplier + adder meet timing and integrate cleanly with the datapath?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657600"/>
            <a:ext cx="3291840" cy="164592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3822191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4224528"/>
            <a:ext cx="28895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Compare CPI, execution time, area, frequency, and energy against the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RISC-V Integration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5166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ECCDE"/>
                </a:solidFill>
              </a:defRPr>
            </a:pPr>
            <a:r>
              <a:t>• Use the RISC-V custom opcode space for non-standard instructions.</a:t>
            </a:r>
          </a:p>
          <a:p>
            <a:pPr>
              <a:spcAft>
                <a:spcPts val="1000"/>
              </a:spcAft>
              <a:defRPr sz="1600">
                <a:solidFill>
                  <a:srgbClr val="BECCDE"/>
                </a:solidFill>
              </a:defRPr>
            </a:pPr>
            <a:r>
              <a:t>• Define operand semantics precisely: source registers, destination register, immediates, and side effects.</a:t>
            </a:r>
          </a:p>
          <a:p>
            <a:pPr>
              <a:spcAft>
                <a:spcPts val="1000"/>
              </a:spcAft>
              <a:defRPr sz="1600">
                <a:solidFill>
                  <a:srgbClr val="BECCDE"/>
                </a:solidFill>
              </a:defRPr>
            </a:pPr>
            <a:r>
              <a:t>• Specify exceptions, memory behavior, privilege interactions, and precise-state requirements.</a:t>
            </a:r>
          </a:p>
          <a:p>
            <a:pPr>
              <a:spcAft>
                <a:spcPts val="1000"/>
              </a:spcAft>
              <a:defRPr sz="1600">
                <a:solidFill>
                  <a:srgbClr val="BECCDE"/>
                </a:solidFill>
              </a:defRPr>
            </a:pPr>
            <a:r>
              <a:t>• Keep the extension orthogonal where possible so existing software remains understandable.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4892040" cy="146304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399032"/>
            <a:ext cx="44897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801368"/>
            <a:ext cx="448970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Choose an encoding that is easy for decode logic and compiler backends to generate.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971800"/>
            <a:ext cx="4892040" cy="146304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3136392"/>
            <a:ext cx="44897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3538728"/>
            <a:ext cx="448970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Check hazards, forwarding, structural conflicts, and whether the instruction is single- or multi-cycle.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709160"/>
            <a:ext cx="4892040" cy="109728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4873752"/>
            <a:ext cx="44897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Toolchain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276088"/>
            <a:ext cx="4489703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Assembler → compiler intrinsic → benchmark → debugger/simulator support.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Hardware–Software 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257800" cy="438912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07592"/>
            <a:ext cx="4855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Choose a candidate when…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09928"/>
            <a:ext cx="485546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• It occurs in a dominant workload hotspot.</a:t>
            </a:r>
            <a:br/>
            <a:r>
              <a:t>• It replaces enough work to matter.</a:t>
            </a:r>
            <a:br/>
            <a:r>
              <a:t>• It maps naturally to existing or modest extra hardware.</a:t>
            </a:r>
            <a:br/>
            <a:r>
              <a:t>• Its latency fits the pipeline strategy.</a:t>
            </a:r>
            <a:br/>
            <a:r>
              <a:t>• Compiler/software support is realistic.</a:t>
            </a:r>
            <a:br/>
            <a:r>
              <a:t>• Verification effort is manageable.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257800" cy="438912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307592"/>
            <a:ext cx="4855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Reject or redesign when…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709928"/>
            <a:ext cx="485546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• The pattern is rare.</a:t>
            </a:r>
            <a:br/>
            <a:r>
              <a:t>• Speedup is small but hardware cost is large.</a:t>
            </a:r>
            <a:br/>
            <a:r>
              <a:t>• It lengthens the critical path.</a:t>
            </a:r>
            <a:br/>
            <a:r>
              <a:t>• It introduces difficult memory/exception semantics.</a:t>
            </a:r>
            <a:br/>
            <a:r>
              <a:t>• It requires extensive compiler changes.</a:t>
            </a:r>
            <a:br/>
            <a:r>
              <a:t>• A standard RISC-V instruction already solves the problem efficiently.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Validation: From Idea to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0515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CCDE"/>
                </a:solidFill>
              </a:defRPr>
            </a:pPr>
            <a:r>
              <a:t>Instrument and profile real workloads.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18488"/>
            <a:ext cx="9966960" cy="2286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0116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CCDE"/>
                </a:solidFill>
              </a:defRPr>
            </a:pPr>
            <a:r>
              <a:t>Estimate cycle savings and bottleneck movement.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578608"/>
            <a:ext cx="9966960" cy="2286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RTL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9718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CCDE"/>
                </a:solidFill>
              </a:defRPr>
            </a:pPr>
            <a:r>
              <a:t>Implement and simulate functional correctness.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538728"/>
            <a:ext cx="9966960" cy="2286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Synthesis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319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CCDE"/>
                </a:solidFill>
              </a:defRPr>
            </a:pPr>
            <a:r>
              <a:t>Measure area, timing, and power proxies.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498848"/>
            <a:ext cx="9966960" cy="2286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Benchmark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8920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CCDE"/>
                </a:solidFill>
              </a:defRPr>
            </a:pPr>
            <a:r>
              <a:t>Compare baseline vs. extension across representative inputs.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458968"/>
            <a:ext cx="9966960" cy="2286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Example Candidate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737360"/>
                <a:gridCol w="1737360"/>
                <a:gridCol w="1737360"/>
                <a:gridCol w="2011680"/>
              </a:tblGrid>
              <a:tr h="8595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C"/>
                          </a:solidFill>
                        </a:defRPr>
                      </a:pPr>
                      <a:r>
                        <a:t>Candidate</a:t>
                      </a:r>
                    </a:p>
                  </a:txBody>
                  <a:tcPr>
                    <a:solidFill>
                      <a:srgbClr val="2A8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C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2A8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C"/>
                          </a:solidFill>
                        </a:defRPr>
                      </a:pPr>
                      <a:r>
                        <a:t>Instr. Saved</a:t>
                      </a:r>
                    </a:p>
                  </a:txBody>
                  <a:tcPr>
                    <a:solidFill>
                      <a:srgbClr val="2A8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C"/>
                          </a:solidFill>
                        </a:defRPr>
                      </a:pPr>
                      <a:r>
                        <a:t>Area Cost</a:t>
                      </a:r>
                    </a:p>
                  </a:txBody>
                  <a:tcPr>
                    <a:solidFill>
                      <a:srgbClr val="2A8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C"/>
                          </a:solidFill>
                        </a:defRPr>
                      </a:pPr>
                      <a:r>
                        <a:t>Timing Risk</a:t>
                      </a:r>
                    </a:p>
                  </a:txBody>
                  <a:tcPr>
                    <a:solidFill>
                      <a:srgbClr val="2A8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C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2A80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Fused MAC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Very 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Bit-field pack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Rare transform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Reject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Crypto round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Very 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Very 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Domain-specific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ECCDE"/>
                </a:solidFill>
              </a:defRPr>
            </a:pPr>
            <a:r>
              <a:t>Ranking is workload-dependent: a candidate that wins for DSP may lose for general-purpose applications.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4D2DC"/>
                </a:solidFill>
              </a:defRPr>
            </a:pPr>
            <a:r>
              <a:t>The best custom instruction is not the most complex one — it is the one with the best system-level return.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BECCDE"/>
                </a:solidFill>
              </a:defRPr>
            </a:pPr>
            <a:r>
              <a:t>• Start with real workload profiling, not hardware intuition.</a:t>
            </a:r>
          </a:p>
          <a:p>
            <a:pPr>
              <a:spcAft>
                <a:spcPts val="1000"/>
              </a:spcAft>
              <a:defRPr sz="1700">
                <a:solidFill>
                  <a:srgbClr val="BECCDE"/>
                </a:solidFill>
              </a:defRPr>
            </a:pPr>
            <a:r>
              <a:t>• Prioritize frequent patterns that eliminate substantial instruction or cycle overhead.</a:t>
            </a:r>
          </a:p>
          <a:p>
            <a:pPr>
              <a:spcAft>
                <a:spcPts val="1000"/>
              </a:spcAft>
              <a:defRPr sz="1700">
                <a:solidFill>
                  <a:srgbClr val="BECCDE"/>
                </a:solidFill>
              </a:defRPr>
            </a:pPr>
            <a:r>
              <a:t>• Evaluate performance together with area, timing, power, verification, and toolchain cost.</a:t>
            </a:r>
          </a:p>
          <a:p>
            <a:pPr>
              <a:spcAft>
                <a:spcPts val="1000"/>
              </a:spcAft>
              <a:defRPr sz="1700">
                <a:solidFill>
                  <a:srgbClr val="BECCDE"/>
                </a:solidFill>
              </a:defRPr>
            </a:pPr>
            <a:r>
              <a:t>• Validate the complete hardware/software stack before committing the extension.</a:t>
            </a:r>
          </a:p>
          <a:p>
            <a:pPr>
              <a:spcAft>
                <a:spcPts val="1000"/>
              </a:spcAft>
              <a:defRPr sz="1700">
                <a:solidFill>
                  <a:srgbClr val="BECCDE"/>
                </a:solidFill>
              </a:defRPr>
            </a:pPr>
            <a:r>
              <a:t>• Use quantitative ranking to make the architecture decision explainable and repeatable.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</a:defRPr>
            </a:pPr>
            <a:r>
              <a:t>RISC-V custom instructions → workload insight → measurable acceleration → validated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